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822960"/>
            <a:ext cx="5120640" cy="5120640"/>
          </a:xfrm>
          <a:prstGeom prst="ellipse">
            <a:avLst/>
          </a:prstGeom>
          <a:ln w="9525">
            <a:solidFill>
              <a:srgbClr val="CADCFC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1645920"/>
            <a:ext cx="3474720" cy="3474720"/>
          </a:xfrm>
          <a:prstGeom prst="ellipse">
            <a:avLst/>
          </a:prstGeom>
          <a:ln w="9525">
            <a:solidFill>
              <a:srgbClr val="CADCFC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04120" y="2606040"/>
            <a:ext cx="1554480" cy="1554480"/>
          </a:xfrm>
          <a:prstGeom prst="ellipse">
            <a:avLst/>
          </a:prstGeom>
          <a:solidFill>
            <a:srgbClr val="27336F"/>
          </a:solidFill>
          <a:ln/>
        </p:spPr>
      </p:sp>
      <p:pic>
        <p:nvPicPr>
          <p:cNvPr id="5" name="Image 0" descr="/tmp/deck/ic_compass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8285" y="3010205"/>
            <a:ext cx="746150" cy="7461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187452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pc="800" kern="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77240" y="237744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</a:t>
            </a:r>
            <a:endParaRPr lang="en-US" sz="8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Dê um norte à sua IA.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46177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que faz a IA desenvolver seus sistemas com consistência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alucinar tabelas, sem duplicar código, sem misturar projetos.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  ·  Arquiteto de Soluções com IA  ·  criador do Método Norte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desenvolve rápido. E erra rápido.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equipe que usa IA para codar (Claude, Copilot, Cursor…) conhece estes sintomas: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56032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/tmp/deck/ic_gh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257" y="27861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 o que não existe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011680" y="27889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Tabelas, rotas e serviços que nunca existiram aparecem no código com toda a confiança.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205740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256032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/tmp/deck/ic_cl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817" y="27861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3524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o que já existe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635240" y="27889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Reescreve o toast, o modal e o export CSV pela quinta vez — cada um de um jeito.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2062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70916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/tmp/deck/ic_rando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257" y="4935017"/>
            <a:ext cx="416966" cy="41696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462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Mistura projetos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2011680" y="4937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a convenção do sistema A no sistema B. O banco vira uma colcha de retalhos.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63640" y="420624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4709160"/>
            <a:ext cx="868680" cy="86868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/tmp/deck/ic_eras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817" y="4935017"/>
            <a:ext cx="416966" cy="41696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35240" y="44622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Esquece decisões</a:t>
            </a:r>
            <a:endParaRPr lang="en-US" sz="1700" dirty="0"/>
          </a:p>
        </p:txBody>
      </p:sp>
      <p:sp>
        <p:nvSpPr>
          <p:cNvPr id="23" name="Text 17"/>
          <p:cNvSpPr/>
          <p:nvPr/>
        </p:nvSpPr>
        <p:spPr>
          <a:xfrm>
            <a:off x="7635240" y="4937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de arquitetura de semanas atrás? Refeita "do jeito melhor" sem avisar.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uma só: contexto errado na hora errada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EFF4FC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DEMAIS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5146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tudo e a janela de contexto estoura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irrelevantes poluem a decisão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sessão fica lenta e cara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257800" cy="3200400"/>
          </a:xfrm>
          <a:prstGeom prst="roundRect">
            <a:avLst>
              <a:gd name="adj" fmla="val 3429"/>
            </a:avLst>
          </a:prstGeom>
          <a:solidFill>
            <a:srgbClr val="EFF4FC"/>
          </a:solidFill>
          <a:ln/>
        </p:spPr>
      </p:sp>
      <p:sp>
        <p:nvSpPr>
          <p:cNvPr id="7" name="Text 5"/>
          <p:cNvSpPr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 MENOS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629400" y="25146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não conhece o projeto e alucina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 as lacunas com "o padrão da internet"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time vira revisor em tempo integral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5166360"/>
            <a:ext cx="10881360" cy="1051560"/>
          </a:xfrm>
          <a:prstGeom prst="roundRect">
            <a:avLst>
              <a:gd name="adj" fmla="val 10435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516636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não é mais contexto. É o </a:t>
            </a:r>
            <a:pPr algn="ctr"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certo, na hora certa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Método Norte: um roteador de contexto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pasta de documentação que funciona como sistema operacional de contexto. Antes de qualquer código, a IA segue o protocolo: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</p:sp>
      <p:sp>
        <p:nvSpPr>
          <p:cNvPr id="5" name="Shape 3"/>
          <p:cNvSpPr/>
          <p:nvPr/>
        </p:nvSpPr>
        <p:spPr>
          <a:xfrm>
            <a:off x="1298448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6" name="Text 4"/>
          <p:cNvSpPr/>
          <p:nvPr/>
        </p:nvSpPr>
        <p:spPr>
          <a:xfrm>
            <a:off x="1298448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arquivo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hub — ponto de entrada único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71216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</p:sp>
      <p:sp>
        <p:nvSpPr>
          <p:cNvPr id="10" name="Shape 8"/>
          <p:cNvSpPr/>
          <p:nvPr/>
        </p:nvSpPr>
        <p:spPr>
          <a:xfrm>
            <a:off x="3529584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3529584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008376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008376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sistema e que tipo de tarefa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102352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</p:sp>
      <p:sp>
        <p:nvSpPr>
          <p:cNvPr id="15" name="Shape 13"/>
          <p:cNvSpPr/>
          <p:nvPr/>
        </p:nvSpPr>
        <p:spPr>
          <a:xfrm>
            <a:off x="5760720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239512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só o indicado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239512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índice aponta os arquivos exatos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33488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EFF4FC"/>
          </a:solidFill>
          <a:ln/>
        </p:spPr>
      </p:sp>
      <p:sp>
        <p:nvSpPr>
          <p:cNvPr id="20" name="Shape 18"/>
          <p:cNvSpPr/>
          <p:nvPr/>
        </p:nvSpPr>
        <p:spPr>
          <a:xfrm>
            <a:off x="7991856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1" name="Text 19"/>
          <p:cNvSpPr/>
          <p:nvPr/>
        </p:nvSpPr>
        <p:spPr>
          <a:xfrm>
            <a:off x="7991856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470648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plano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70648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Sistema, arquivos lidos, risco, ação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64624" y="2377440"/>
            <a:ext cx="2048256" cy="2834640"/>
          </a:xfrm>
          <a:prstGeom prst="roundRect">
            <a:avLst>
              <a:gd name="adj" fmla="val 5357"/>
            </a:avLst>
          </a:prstGeom>
          <a:solidFill>
            <a:srgbClr val="1E2761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22992" y="2697480"/>
            <a:ext cx="731520" cy="73152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6" name="Text 24"/>
          <p:cNvSpPr/>
          <p:nvPr/>
        </p:nvSpPr>
        <p:spPr>
          <a:xfrm>
            <a:off x="10222992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701784" y="361188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 e registra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701784" y="4160520"/>
            <a:ext cx="17739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Progresso e estado sempre atualizados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suficiente para acertar. Nunca o bastante para se perder.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8 pilares do método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4" name="Shape 2"/>
          <p:cNvSpPr/>
          <p:nvPr/>
        </p:nvSpPr>
        <p:spPr>
          <a:xfrm>
            <a:off x="153619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5" name="Image 0" descr="/tmp/deck/ic_mapsig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0162" y="1997050"/>
            <a:ext cx="395021" cy="3950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roteador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sistemas + índice por assunto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2900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9" name="Shape 6"/>
          <p:cNvSpPr/>
          <p:nvPr/>
        </p:nvSpPr>
        <p:spPr>
          <a:xfrm>
            <a:off x="432511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10" name="Image 1" descr="/tmp/deck/ic_b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082" y="1997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3872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Bloqueios explícitos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6616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NÃO pode fazer, por escrito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14" name="Shape 10"/>
          <p:cNvSpPr/>
          <p:nvPr/>
        </p:nvSpPr>
        <p:spPr>
          <a:xfrm>
            <a:off x="711403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15" name="Image 2" descr="/tmp/deck/ic_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8002" y="1997050"/>
            <a:ext cx="395021" cy="39502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única de números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35508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Contagens num só lugar; o resto linka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9006840" y="1554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19" name="Shape 14"/>
          <p:cNvSpPr/>
          <p:nvPr/>
        </p:nvSpPr>
        <p:spPr>
          <a:xfrm>
            <a:off x="9902952" y="178308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20" name="Image 3" descr="/tmp/deck/ic_puzz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6922" y="1997050"/>
            <a:ext cx="395021" cy="39502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16568" y="265176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padrões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44000" y="303580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obrigatórios — nada de duplicar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4008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24" name="Shape 18"/>
          <p:cNvSpPr/>
          <p:nvPr/>
        </p:nvSpPr>
        <p:spPr>
          <a:xfrm>
            <a:off x="153619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25" name="Image 4" descr="/tmp/deck/ic_land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162" y="4420210"/>
            <a:ext cx="395021" cy="395021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4980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77724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registradas com o porquê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342900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29" name="Shape 22"/>
          <p:cNvSpPr/>
          <p:nvPr/>
        </p:nvSpPr>
        <p:spPr>
          <a:xfrm>
            <a:off x="432511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30" name="Image 5" descr="/tmp/deck/ic_heartb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82" y="4420210"/>
            <a:ext cx="395021" cy="39502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353872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 vivo</a:t>
            </a:r>
            <a:endParaRPr lang="en-US" sz="1400" dirty="0"/>
          </a:p>
        </p:txBody>
      </p:sp>
      <p:sp>
        <p:nvSpPr>
          <p:cNvPr id="32" name="Text 24"/>
          <p:cNvSpPr/>
          <p:nvPr/>
        </p:nvSpPr>
        <p:spPr>
          <a:xfrm>
            <a:off x="356616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curto + histórico fatiado por mês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21792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34" name="Shape 26"/>
          <p:cNvSpPr/>
          <p:nvPr/>
        </p:nvSpPr>
        <p:spPr>
          <a:xfrm>
            <a:off x="711403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35" name="Image 6" descr="/tmp/deck/ic_checkdoub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002" y="4420210"/>
            <a:ext cx="395021" cy="39502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32764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automático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635508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se autotesta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9006840" y="397764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27336F"/>
          </a:solidFill>
          <a:ln/>
        </p:spPr>
      </p:sp>
      <p:sp>
        <p:nvSpPr>
          <p:cNvPr id="39" name="Shape 30"/>
          <p:cNvSpPr/>
          <p:nvPr/>
        </p:nvSpPr>
        <p:spPr>
          <a:xfrm>
            <a:off x="9902952" y="4206240"/>
            <a:ext cx="822960" cy="822960"/>
          </a:xfrm>
          <a:prstGeom prst="ellipse">
            <a:avLst/>
          </a:prstGeom>
          <a:solidFill>
            <a:srgbClr val="3A4A8C"/>
          </a:solidFill>
          <a:ln/>
        </p:spPr>
      </p:sp>
      <p:pic>
        <p:nvPicPr>
          <p:cNvPr id="40" name="Image 7" descr="/tmp/deck/ic_co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16922" y="4420210"/>
            <a:ext cx="395021" cy="395021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116568" y="5074920"/>
            <a:ext cx="2386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de código</a:t>
            </a:r>
            <a:endParaRPr lang="en-US" sz="1400" dirty="0"/>
          </a:p>
        </p:txBody>
      </p:sp>
      <p:sp>
        <p:nvSpPr>
          <p:cNvPr id="42" name="Text 32"/>
          <p:cNvSpPr/>
          <p:nvPr/>
        </p:nvSpPr>
        <p:spPr>
          <a:xfrm>
            <a:off x="9144000" y="545896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copia esqueletos, não reinventa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prática: a mesma tarefa, duas IAs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Pedido: "crie um endpoint para listar pagamentos de um cliente"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BEFEF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método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a tabela "payments" — que não existe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MongoDB — o projeto é SQL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um novo helper de resposta — o 6º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registro do que foi feito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6B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descobre os estragos no code review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EDF5EE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Método Norte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83680" y="274320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 sistema e lê 3 arquivos exatos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a tabela real (fin_contas) e o SQL do projeto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 o padrão de resposta existente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o plano ANTES de executar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C5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ação no progresso ao concluir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teoria: nasceu em produção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método foi extraído de um caso real: um portal corporativo desenvolvido e mantido com IA, usando exatamente esta estrutura.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17+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em produção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1188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de banco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640080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ambientes espelhados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2286000"/>
            <a:ext cx="2606040" cy="2103120"/>
          </a:xfrm>
          <a:prstGeom prst="roundRect">
            <a:avLst>
              <a:gd name="adj" fmla="val 5217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25146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9189720" y="36118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 externas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846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assistentes de IA — em locais diferentes — mantêm o mesmo sistema seguindo as mesmas regras, </a:t>
            </a:r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 atropelar.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documentação compartilhada é a fonte única de regras; git sincroniza os dois lados.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no kit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9611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/tmp/deck/ic_f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" y="2046427"/>
            <a:ext cx="351130" cy="3511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completo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440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arquivos com instruções de preenchimento passo a passo — hub, módulos, fichas, ADRs, progresso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4515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/tmp/deck/ic_list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347" y="2046427"/>
            <a:ext cx="351130" cy="3511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+ prompt de setup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66344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prompt na sua IA, responda 10 perguntas e ela monta a documentação com você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38160" y="160020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94192" y="185623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/tmp/deck/ic_lightbul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4387" y="2046427"/>
            <a:ext cx="351130" cy="35113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281160" y="18928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preenchido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412480" y="26517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fictícia completa (stack diferente de propósito: o método é agnóstico de stack)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9611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0" name="Image 3" descr="/tmp/deck/ic_plu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307" y="4423867"/>
            <a:ext cx="351130" cy="35113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8308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instalável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91440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Claude Code: a IA implanta e opera o método automaticamente, sem colar prompt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8912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64515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5" name="Image 4" descr="/tmp/deck/ic_rou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5347" y="4423867"/>
            <a:ext cx="351130" cy="35113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53212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Validador automático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466344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que confere links, metadados e cobertura do índice — a doc não "mente"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13816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94192" y="4233672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5" descr="/tmp/deck/ic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84387" y="4423867"/>
            <a:ext cx="351130" cy="35113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281160" y="42702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+ esteira de evolução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8412480" y="5029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de uso claro, formulário de feedback e processo de melhoria contínua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Implantação em 3 passos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057400" y="1737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057400" y="224028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 a pasta template para onde sua documentação vai morar e renomeie.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24612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46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057400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057400" y="365760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prompt de setup na sua IA e responda ao questionário — ela preenche tudo e roda o validador até 0 erros.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46634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663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057400" y="45720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057400" y="5074920"/>
            <a:ext cx="8961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Referencie o hub no arquivo de instruções de cada projeto. Pronto: toda sessão de IA começa com o norte certo.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EFF4FC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8978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típico até a primeira versão útil: </a:t>
            </a:r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 2 horas</a:t>
            </a:r>
            <a:pPr algn="ctr"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funciona com Claude Code, Cursor, Copilot e afins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quem é o Método Norte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6596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/tmp/deck/ic_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3704" y="229514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Equipes que já usam IA para codar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91440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sentem que a velocidade veio acompanhada de bagunça, retrabalho e código duplicado.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8912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71500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1" descr="/tmp/deck/ic_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744" y="2295144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 solo com vários projetos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466344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precisam que a IA retome o contexto certo de cada sistema, em cada sessão, sem recontar tudo.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3333"/>
            </a:avLst>
          </a:prstGeom>
          <a:solidFill>
            <a:srgbClr val="EFF4FC"/>
          </a:solidFill>
          <a:ln/>
          <a:effectLst>
            <a:outerShdw sx="100000" sy="100000" kx="0" ky="0" algn="bl" rotWithShape="0" blurRad="76200" dist="25400" dir="5400000">
              <a:srgbClr val="B8C4DC">
                <a:alpha val="3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464040" y="2057400"/>
            <a:ext cx="914400" cy="9144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2" descr="/tmp/deck/ic_rou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229514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66760" y="31546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com sistemas legados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8412480" y="39776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maior risco é a IA "modernizar" o que não devia — bloqueios explícitos resolvem isso.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A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stack. Qualquer assistente de IA que leia arquivos do projeto.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291840"/>
            <a:ext cx="5486400" cy="5486400"/>
          </a:xfrm>
          <a:prstGeom prst="ellipse">
            <a:avLst/>
          </a:prstGeom>
          <a:ln w="9525">
            <a:solidFill>
              <a:srgbClr val="CADCFC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23560" y="914400"/>
            <a:ext cx="914400" cy="914400"/>
          </a:xfrm>
          <a:prstGeom prst="ellipse">
            <a:avLst/>
          </a:prstGeom>
          <a:solidFill>
            <a:srgbClr val="27336F"/>
          </a:solidFill>
          <a:ln/>
        </p:spPr>
      </p:sp>
      <p:pic>
        <p:nvPicPr>
          <p:cNvPr id="4" name="Image 0" descr="/tmp/deck/ic_compass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1304" y="11521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Dê um norte à sua IA.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já é rápida. Com o Método Norte, ela passa a ser confiável.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337560" y="4297680"/>
            <a:ext cx="5486400" cy="1188720"/>
          </a:xfrm>
          <a:prstGeom prst="roundRect">
            <a:avLst>
              <a:gd name="adj" fmla="val 11538"/>
            </a:avLst>
          </a:prstGeom>
          <a:solidFill>
            <a:srgbClr val="27336F"/>
          </a:solidFill>
          <a:ln/>
        </p:spPr>
      </p:sp>
      <p:sp>
        <p:nvSpPr>
          <p:cNvPr id="8" name="Text 5"/>
          <p:cNvSpPr/>
          <p:nvPr/>
        </p:nvSpPr>
        <p:spPr>
          <a:xfrm>
            <a:off x="3337560" y="44988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 — Arquiteto de Soluções com IA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337560" y="491947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kasuo.wkl@gmail.com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Norte v1.0 · © 2026 Kasuo · Todos os direitos reservados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2026-07-17T19:41:13Z</dcterms:created>
  <dcterms:modified xsi:type="dcterms:W3CDTF">2026-07-17T19:41:13Z</dcterms:modified>
</cp:coreProperties>
</file>