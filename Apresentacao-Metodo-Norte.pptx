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18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822960"/>
            <a:ext cx="5120640" cy="5120640"/>
          </a:xfrm>
          <a:prstGeom prst="ellipse">
            <a:avLst/>
          </a:prstGeom>
          <a:ln w="9525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0" y="1645920"/>
            <a:ext cx="3474720" cy="3474720"/>
          </a:xfrm>
          <a:prstGeom prst="ellipse">
            <a:avLst/>
          </a:prstGeom>
          <a:ln w="9525">
            <a:solidFill>
              <a:srgbClr val="CADCFC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104120" y="2606040"/>
            <a:ext cx="1554480" cy="1554480"/>
          </a:xfrm>
          <a:prstGeom prst="ellipse">
            <a:avLst/>
          </a:prstGeom>
          <a:solidFill>
            <a:srgbClr val="27336F"/>
          </a:solidFill>
          <a:ln/>
        </p:spPr>
        <p:txBody>
          <a:bodyPr/>
          <a:p/>
        </p:txBody>
      </p:sp>
      <p:pic>
        <p:nvPicPr>
          <p:cNvPr id="5" name="Image 0" descr="/tmp/deck/ic_compass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85" y="3010205"/>
            <a:ext cx="746150" cy="7461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8745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spc="800" kern="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777240" y="237744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NORTE</a:t>
            </a:r>
            <a:endParaRPr lang="en-US" sz="8800" dirty="0"/>
          </a:p>
        </p:txBody>
      </p:sp>
      <p:sp>
        <p:nvSpPr>
          <p:cNvPr id="8" name="Text 5"/>
          <p:cNvSpPr/>
          <p:nvPr/>
        </p:nvSpPr>
        <p:spPr>
          <a:xfrm>
            <a:off x="822960" y="397764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Dê um norte à sua IA.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822960" y="46177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método que faz a IA desenvolver seus sistemas com consistência 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alucinar tabelas, sem duplicar código, sem misturar projetos.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Kasuo  ·  Arquiteto de Soluções com IA  ·  criador do Método Norte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desenvolve rápido. E erra rápido.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equipe que usa IA para codar (Claude, Copilot, Cursor…) conhece estes sintomas: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2560320"/>
            <a:ext cx="868680" cy="86868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6" name="Image 0" descr="/tmp/deck/ic_gh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257" y="278617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11680" y="23134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 o que não existe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2011680" y="278892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Tabelas, rotas e serviços que nunca existiram aparecem no código com toda a confiança.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63640" y="20574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37960" y="2560320"/>
            <a:ext cx="868680" cy="86868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11" name="Image 1" descr="/tmp/deck/ic_cl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817" y="2786177"/>
            <a:ext cx="416966" cy="416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635240" y="23134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 o que já existe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635240" y="278892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Reescreve o toast, o modal e o export CSV pela quinta vez — cada um de um jeito.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420624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14400" y="4709160"/>
            <a:ext cx="868680" cy="86868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16" name="Image 2" descr="/tmp/deck/ic_rand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257" y="4935017"/>
            <a:ext cx="416966" cy="41696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011680" y="44622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Mistura projetos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2011680" y="493776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a convenção do sistema A no sistema B. O banco vira uma colcha de retalhos.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63640" y="420624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537960" y="4709160"/>
            <a:ext cx="868680" cy="86868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21" name="Image 3" descr="/tmp/deck/ic_eras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3817" y="4935017"/>
            <a:ext cx="416966" cy="41696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635240" y="44622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Esquece decisões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7635240" y="493776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escolha de arquitetura de semanas atrás? Refeita "do jeito melhor" sem avisar.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 é uma só: contexto errado na hora errada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5257800" cy="3200400"/>
          </a:xfrm>
          <a:prstGeom prst="roundRect">
            <a:avLst>
              <a:gd name="adj" fmla="val 3429"/>
            </a:avLst>
          </a:prstGeom>
          <a:solidFill>
            <a:srgbClr val="EFF4F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0584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DEMAIS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05840" y="25146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lê tudo e a janela de contexto estoura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irrelevantes poluem a decisão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sessão fica lenta e cara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63640" y="1645920"/>
            <a:ext cx="5257800" cy="3200400"/>
          </a:xfrm>
          <a:prstGeom prst="roundRect">
            <a:avLst>
              <a:gd name="adj" fmla="val 3429"/>
            </a:avLst>
          </a:prstGeom>
          <a:solidFill>
            <a:srgbClr val="EFF4F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2940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 MENOS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629400" y="25146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não conhece o projeto e alucina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 as lacunas com "o padrão da internet"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time vira revisor em tempo integral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516636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14400" y="516636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não é mais contexto. É o </a:t>
            </a:r>
            <a:pPr algn="ctr"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certo, na hora certa</a:t>
            </a:r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Método Norte: um roteador de contexto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pasta de documentação que funciona como sistema operacional de contexto. Antes de qualquer código, a IA segue o protocolo: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048256" cy="2834640"/>
          </a:xfrm>
          <a:prstGeom prst="roundRect">
            <a:avLst>
              <a:gd name="adj" fmla="val 5357"/>
            </a:avLst>
          </a:prstGeom>
          <a:solidFill>
            <a:srgbClr val="EFF4FC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298448" y="2697480"/>
            <a:ext cx="731520" cy="731520"/>
          </a:xfrm>
          <a:prstGeom prst="ellipse">
            <a:avLst/>
          </a:prstGeom>
          <a:solidFill>
            <a:srgbClr val="F0B42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98448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77240" y="361188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UM arquivo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416052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hub — ponto de entrada único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71216" y="2377440"/>
            <a:ext cx="2048256" cy="2834640"/>
          </a:xfrm>
          <a:prstGeom prst="roundRect">
            <a:avLst>
              <a:gd name="adj" fmla="val 5357"/>
            </a:avLst>
          </a:prstGeom>
          <a:solidFill>
            <a:srgbClr val="EFF4FC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529584" y="2697480"/>
            <a:ext cx="731520" cy="731520"/>
          </a:xfrm>
          <a:prstGeom prst="ellipse">
            <a:avLst/>
          </a:prstGeom>
          <a:solidFill>
            <a:srgbClr val="F0B42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29584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008376" y="361188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008376" y="416052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sistema e que tipo de tarefa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102352" y="2377440"/>
            <a:ext cx="2048256" cy="2834640"/>
          </a:xfrm>
          <a:prstGeom prst="roundRect">
            <a:avLst>
              <a:gd name="adj" fmla="val 5357"/>
            </a:avLst>
          </a:prstGeom>
          <a:solidFill>
            <a:srgbClr val="EFF4F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760720" y="2697480"/>
            <a:ext cx="731520" cy="731520"/>
          </a:xfrm>
          <a:prstGeom prst="ellipse">
            <a:avLst/>
          </a:prstGeom>
          <a:solidFill>
            <a:srgbClr val="F0B429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760720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239512" y="361188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só o indicado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39512" y="416052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índice aponta os arquivos exatos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33488" y="2377440"/>
            <a:ext cx="2048256" cy="2834640"/>
          </a:xfrm>
          <a:prstGeom prst="roundRect">
            <a:avLst>
              <a:gd name="adj" fmla="val 5357"/>
            </a:avLst>
          </a:prstGeom>
          <a:solidFill>
            <a:srgbClr val="EFF4F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991856" y="2697480"/>
            <a:ext cx="731520" cy="731520"/>
          </a:xfrm>
          <a:prstGeom prst="ellipse">
            <a:avLst/>
          </a:prstGeom>
          <a:solidFill>
            <a:srgbClr val="F0B429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991856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470648" y="361188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o plano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470648" y="416052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Sistema, arquivos lidos, risco, ação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64624" y="2377440"/>
            <a:ext cx="2048256" cy="2834640"/>
          </a:xfrm>
          <a:prstGeom prst="roundRect">
            <a:avLst>
              <a:gd name="adj" fmla="val 5357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222992" y="2697480"/>
            <a:ext cx="731520" cy="731520"/>
          </a:xfrm>
          <a:prstGeom prst="ellipse">
            <a:avLst/>
          </a:prstGeom>
          <a:solidFill>
            <a:srgbClr val="F0B429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0222992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701784" y="361188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 e registra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701784" y="416052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Progresso e estado sempre atualizados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suficiente para acertar. Nunca o bastante para se perder.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8 pilares do método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36192" y="178308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  <p:txBody>
          <a:bodyPr/>
          <a:p/>
        </p:txBody>
      </p:sp>
      <p:pic>
        <p:nvPicPr>
          <p:cNvPr id="5" name="Image 0" descr="/tmp/deck/ic_mapsig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0162" y="1997050"/>
            <a:ext cx="395021" cy="3950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" y="265176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roteador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303580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sistemas + índice por assunto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29000" y="1554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325112" y="178308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  <p:txBody>
          <a:bodyPr/>
          <a:p/>
        </p:txBody>
      </p:sp>
      <p:pic>
        <p:nvPicPr>
          <p:cNvPr id="10" name="Image 1" descr="/tmp/deck/ic_b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082" y="19970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38728" y="265176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Bloqueios explícitos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566160" y="303580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IA NÃO pode fazer, por escrito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17920" y="1554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7114032" y="178308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  <p:txBody>
          <a:bodyPr/>
          <a:p/>
        </p:txBody>
      </p:sp>
      <p:pic>
        <p:nvPicPr>
          <p:cNvPr id="15" name="Image 2" descr="/tmp/deck/ic_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8002" y="1997050"/>
            <a:ext cx="395021" cy="39502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327648" y="265176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única de números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355080" y="303580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Contagens num só lugar; o resto linka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9006840" y="1554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9902952" y="178308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  <p:txBody>
          <a:bodyPr/>
          <a:p/>
        </p:txBody>
      </p:sp>
      <p:pic>
        <p:nvPicPr>
          <p:cNvPr id="20" name="Image 3" descr="/tmp/deck/ic_puzz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6922" y="1997050"/>
            <a:ext cx="395021" cy="39502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116568" y="265176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padrões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9144000" y="303580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obrigatórios — nada de duplicar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640080" y="39776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  <p:txBody>
          <a:bodyPr/>
          <a:p/>
        </p:txBody>
      </p:sp>
      <p:sp>
        <p:nvSpPr>
          <p:cNvPr id="24" name="Shape 18"/>
          <p:cNvSpPr/>
          <p:nvPr/>
        </p:nvSpPr>
        <p:spPr>
          <a:xfrm>
            <a:off x="1536192" y="420624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  <p:txBody>
          <a:bodyPr/>
          <a:p/>
        </p:txBody>
      </p:sp>
      <p:pic>
        <p:nvPicPr>
          <p:cNvPr id="25" name="Image 4" descr="/tmp/deck/ic_land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0162" y="4420210"/>
            <a:ext cx="395021" cy="395021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49808" y="507492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777240" y="545896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registradas com o porquê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3429000" y="39776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  <p:txBody>
          <a:bodyPr/>
          <a:p/>
        </p:txBody>
      </p:sp>
      <p:sp>
        <p:nvSpPr>
          <p:cNvPr id="29" name="Shape 22"/>
          <p:cNvSpPr/>
          <p:nvPr/>
        </p:nvSpPr>
        <p:spPr>
          <a:xfrm>
            <a:off x="4325112" y="420624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  <p:txBody>
          <a:bodyPr/>
          <a:p/>
        </p:txBody>
      </p:sp>
      <p:pic>
        <p:nvPicPr>
          <p:cNvPr id="30" name="Image 5" descr="/tmp/deck/ic_heartbea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9082" y="4420210"/>
            <a:ext cx="395021" cy="395021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3538728" y="507492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 vivo</a:t>
            </a:r>
            <a:endParaRPr lang="en-US" sz="1400" dirty="0"/>
          </a:p>
        </p:txBody>
      </p:sp>
      <p:sp>
        <p:nvSpPr>
          <p:cNvPr id="32" name="Text 24"/>
          <p:cNvSpPr/>
          <p:nvPr/>
        </p:nvSpPr>
        <p:spPr>
          <a:xfrm>
            <a:off x="3566160" y="545896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curto + histórico fatiado por mês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6217920" y="39776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  <p:txBody>
          <a:bodyPr/>
          <a:p/>
        </p:txBody>
      </p:sp>
      <p:sp>
        <p:nvSpPr>
          <p:cNvPr id="34" name="Shape 26"/>
          <p:cNvSpPr/>
          <p:nvPr/>
        </p:nvSpPr>
        <p:spPr>
          <a:xfrm>
            <a:off x="7114032" y="420624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  <p:txBody>
          <a:bodyPr/>
          <a:p/>
        </p:txBody>
      </p:sp>
      <p:pic>
        <p:nvPicPr>
          <p:cNvPr id="35" name="Image 6" descr="/tmp/deck/ic_checkdoub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8002" y="4420210"/>
            <a:ext cx="395021" cy="395021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6327648" y="507492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 automático</a:t>
            </a:r>
            <a:endParaRPr lang="en-US" sz="1400" dirty="0"/>
          </a:p>
        </p:txBody>
      </p:sp>
      <p:sp>
        <p:nvSpPr>
          <p:cNvPr id="37" name="Text 28"/>
          <p:cNvSpPr/>
          <p:nvPr/>
        </p:nvSpPr>
        <p:spPr>
          <a:xfrm>
            <a:off x="6355080" y="545896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documentação se autotesta</a:t>
            </a:r>
            <a:endParaRPr lang="en-US" sz="1100" dirty="0"/>
          </a:p>
        </p:txBody>
      </p:sp>
      <p:sp>
        <p:nvSpPr>
          <p:cNvPr id="38" name="Shape 29"/>
          <p:cNvSpPr/>
          <p:nvPr/>
        </p:nvSpPr>
        <p:spPr>
          <a:xfrm>
            <a:off x="9006840" y="39776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  <p:txBody>
          <a:bodyPr/>
          <a:p/>
        </p:txBody>
      </p:sp>
      <p:sp>
        <p:nvSpPr>
          <p:cNvPr id="39" name="Shape 30"/>
          <p:cNvSpPr/>
          <p:nvPr/>
        </p:nvSpPr>
        <p:spPr>
          <a:xfrm>
            <a:off x="9902952" y="420624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  <p:txBody>
          <a:bodyPr/>
          <a:p/>
        </p:txBody>
      </p:sp>
      <p:pic>
        <p:nvPicPr>
          <p:cNvPr id="40" name="Image 7" descr="/tmp/deck/ic_cod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16922" y="4420210"/>
            <a:ext cx="395021" cy="395021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9116568" y="507492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de código</a:t>
            </a:r>
            <a:endParaRPr lang="en-US" sz="1400" dirty="0"/>
          </a:p>
        </p:txBody>
      </p:sp>
      <p:sp>
        <p:nvSpPr>
          <p:cNvPr id="42" name="Text 32"/>
          <p:cNvSpPr/>
          <p:nvPr/>
        </p:nvSpPr>
        <p:spPr>
          <a:xfrm>
            <a:off x="9144000" y="545896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copia esqueletos, não reinventa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Os relatórios que a IA devolve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Calibri"/>
              </a:rPr>
              <a:t>A documentação não é estática: ela relata. Rastreabilidade do início ao fim de cada tarefa.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2606040" cy="3977639"/>
          </a:xfrm>
          <a:prstGeom prst="rect">
            <a:avLst/>
          </a:prstGeom>
          <a:solidFill>
            <a:srgbClr val="273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0B429"/>
                </a:solidFill>
                <a:latin typeface="Calibri"/>
              </a:rPr>
              <a:t>ESTADO-ATUAL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39"/>
            <a:ext cx="2331720" cy="2971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ADCFC"/>
                </a:solidFill>
                <a:latin typeface="Calibri"/>
              </a:rPr>
              <a:t>Onde o projeto está agora e o que falta — as pendências abertas, segurança em destaque. O relatório de 1 página que a IA lê e reporta ao abrir a sessão.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1737360"/>
            <a:ext cx="2606040" cy="3977639"/>
          </a:xfrm>
          <a:prstGeom prst="rect">
            <a:avLst/>
          </a:prstGeom>
          <a:solidFill>
            <a:srgbClr val="273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9659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0B429"/>
                </a:solidFill>
                <a:latin typeface="Calibri"/>
              </a:rPr>
              <a:t>Progresso mensal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606039"/>
            <a:ext cx="2331720" cy="2971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ADCFC"/>
                </a:solidFill>
                <a:latin typeface="Calibri"/>
              </a:rPr>
              <a:t>O histórico do que foi feito, quando e por quê — fatiado por mês para não pesar no contexto. Cada tarefa concluída vira uma entrada curta.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2606040" cy="3977639"/>
          </a:xfrm>
          <a:prstGeom prst="rect">
            <a:avLst/>
          </a:prstGeom>
          <a:solidFill>
            <a:srgbClr val="273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9659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0B429"/>
                </a:solidFill>
                <a:latin typeface="Calibri"/>
              </a:rPr>
              <a:t>Plano antes de agir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606039"/>
            <a:ext cx="2331720" cy="2971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ADCFC"/>
                </a:solidFill>
                <a:latin typeface="Calibri"/>
              </a:rPr>
              <a:t>Antes de tocar no código, a IA devolve um relatório: sistema, arquivos lidos, área impactada, risco e ação planejada. Você aprova antes.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06840" y="1737360"/>
            <a:ext cx="2606040" cy="3977639"/>
          </a:xfrm>
          <a:prstGeom prst="rect">
            <a:avLst/>
          </a:prstGeom>
          <a:solidFill>
            <a:srgbClr val="273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9659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0B429"/>
                </a:solidFill>
                <a:latin typeface="Calibri"/>
              </a:rPr>
              <a:t>Verificação provada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606039"/>
            <a:ext cx="2331720" cy="2971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ADCFC"/>
                </a:solidFill>
                <a:latin typeface="Calibri"/>
              </a:rPr>
              <a:t>Ao concluir, a IA relata o resultado observado (não deduzido) e, ao corrigir bugs, os gêmeos varridos (TWINS). Confiança com evidência.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prática: a mesma tarefa, duas IAs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Pedido: "crie um endpoint para listar pagamentos de um cliente"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BEFEF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2194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método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2743200"/>
            <a:ext cx="4709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6B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a tabela "payments" — que não existe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6B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MongoDB — o projeto é SQL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6B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 um novo helper de resposta — o 6º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6B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registro do que foi feito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6B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descobre os estragos no code review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ED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83680" y="2194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Método Norte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0" y="2743200"/>
            <a:ext cx="4709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C5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 o sistema e lê 3 arquivos exatos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C5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a tabela real (fin_contas) e o SQL do projeto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C5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 o padrão de resposta existente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C5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o plano ANTES de executar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C5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a ação no progresso ao concluir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teoria: nasceu em produção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método foi extraído de um caso real: um portal corporativo desenvolvido e mantido com IA, usando exatamente esta estrutura.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251460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17+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em produção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29000" y="22860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520440" y="251460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1188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 de banco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251460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640080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ambientes espelhados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06840" y="22860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098280" y="251460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10+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918972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integrações externas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4846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assistentes de IA — em locais diferentes — mantêm o mesmo sistema seguindo as mesmas regras, </a:t>
            </a:r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 atropelar.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documentação compartilhada é a fonte única de regras; a config de cada ambiente fica só no .env, então o git sincroniza os dois lados com um pull.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vem no kit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96112" y="1856232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5" name="Image 0" descr="/tmp/deck/ic_fo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307" y="2046427"/>
            <a:ext cx="351130" cy="3511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83080" y="18928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completo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4400" y="26517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arquivos com instruções de preenchimento passo a passo — hub, módulos, fichas, ADRs, progresso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89120" y="160020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645152" y="1856232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10" name="Image 1" descr="/tmp/deck/ic_list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347" y="2046427"/>
            <a:ext cx="351130" cy="35113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32120" y="18928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+ prompt de setup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663440" y="26517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 prompt na sua IA, responda 10 perguntas e ela monta a documentação com você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138160" y="160020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8394192" y="1856232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15" name="Image 2" descr="/tmp/deck/ic_lightbul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4387" y="2046427"/>
            <a:ext cx="351130" cy="35113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281160" y="18928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preenchido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8412480" y="26517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 fictícia completa (stack diferente de propósito: o método é agnóstico de stack)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40080" y="397764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896112" y="4233672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20" name="Image 3" descr="/tmp/deck/ic_plu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307" y="4423867"/>
            <a:ext cx="351130" cy="35113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783080" y="42702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instalável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914400" y="5029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Claude Code: a IA implanta e opera o método automaticamente, sem colar prompt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389120" y="397764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4" name="Shape 18"/>
          <p:cNvSpPr/>
          <p:nvPr/>
        </p:nvSpPr>
        <p:spPr>
          <a:xfrm>
            <a:off x="4645152" y="4233672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25" name="Image 4" descr="/tmp/deck/ic_rou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5347" y="4423867"/>
            <a:ext cx="351130" cy="35113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532120" y="42702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 automático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4663440" y="5029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que confere links, metadados e cobertura do índice — a doc não "mente"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8138160" y="397764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9" name="Shape 22"/>
          <p:cNvSpPr/>
          <p:nvPr/>
        </p:nvSpPr>
        <p:spPr>
          <a:xfrm>
            <a:off x="8394192" y="4233672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30" name="Image 5" descr="/tmp/deck/ic_shie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4387" y="4423867"/>
            <a:ext cx="351130" cy="35113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281160" y="42702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Licença + esteira de evolução</a:t>
            </a:r>
            <a:endParaRPr lang="en-US" sz="1500" dirty="0"/>
          </a:p>
        </p:txBody>
      </p:sp>
      <p:sp>
        <p:nvSpPr>
          <p:cNvPr id="32" name="Text 24"/>
          <p:cNvSpPr/>
          <p:nvPr/>
        </p:nvSpPr>
        <p:spPr>
          <a:xfrm>
            <a:off x="8412480" y="5029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sob Licença MIT, com créditos a ideias externas adotadas e processo de melhoria contínua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Implantação em 3 passos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182880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057400" y="1737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057400" y="2240280"/>
            <a:ext cx="8961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 a pasta template para onde sua documentação vai morar e renomeie.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324612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3246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057400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057400" y="3657600"/>
            <a:ext cx="8961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 prompt de setup na sua IA e responda ao questionário — ela preenche tudo e roda o validador até 0 erros.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22960" y="466344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663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057400" y="4572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057400" y="5074920"/>
            <a:ext cx="8961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Referencie o hub no arquivo de instruções de cada projeto. Pronto: toda sessão de IA começa com o norte certo.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0080" y="5897880"/>
            <a:ext cx="10881360" cy="685800"/>
          </a:xfrm>
          <a:prstGeom prst="roundRect">
            <a:avLst>
              <a:gd name="adj" fmla="val 13333"/>
            </a:avLst>
          </a:prstGeom>
          <a:solidFill>
            <a:srgbClr val="EFF4FC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589788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típico até a primeira versão útil: </a:t>
            </a:r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 2 horas</a:t>
            </a:r>
            <a:pPr algn="ctr" indent="0" marL="0">
              <a:buNone/>
            </a:pPr>
            <a:r>
              <a:rPr lang="en-US" sz="14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funciona com Claude Code, Cursor, Copilot e afins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quem é o Método Norte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965960" y="2057400"/>
            <a:ext cx="914400" cy="91440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5" name="Image 0" descr="/tmp/deck/ic_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3704" y="229514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3154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Equipes que já usam IA para codar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914400" y="3977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sentem que a velocidade veio acompanhada de bagunça, retrabalho e código duplicado.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89120" y="173736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715000" y="2057400"/>
            <a:ext cx="914400" cy="91440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10" name="Image 1" descr="/tmp/deck/ic_bo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744" y="2295144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17720" y="3154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 solo com vários projetos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4663440" y="3977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precisam que a IA retome o contexto certo de cada sistema, em cada sessão, sem recontar tudo.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464040" y="2057400"/>
            <a:ext cx="914400" cy="91440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15" name="Image 2" descr="/tmp/deck/ic_rou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229514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66760" y="3154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 com sistemas legados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8412480" y="3977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maior risco é a IA "modernizar" o que não devia — bloqueios explícitos resolvem isso.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stack. Qualquer assistente de IA que leia arquivos do projeto.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291840"/>
            <a:ext cx="5486400" cy="5486400"/>
          </a:xfrm>
          <a:prstGeom prst="ellipse">
            <a:avLst/>
          </a:prstGeom>
          <a:ln w="9525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23560" y="914400"/>
            <a:ext cx="914400" cy="914400"/>
          </a:xfrm>
          <a:prstGeom prst="ellipse">
            <a:avLst/>
          </a:prstGeom>
          <a:solidFill>
            <a:srgbClr val="27336F"/>
          </a:solidFill>
          <a:ln/>
        </p:spPr>
        <p:txBody>
          <a:bodyPr/>
          <a:p/>
        </p:txBody>
      </p:sp>
      <p:pic>
        <p:nvPicPr>
          <p:cNvPr id="4" name="Image 0" descr="/tmp/deck/ic_compass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1304" y="115214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1488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Dê um norte à sua IA.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já é rápida. Com o Método Norte, ela fica ainda mais confiável.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3337560" y="4297680"/>
            <a:ext cx="5486400" cy="1188720"/>
          </a:xfrm>
          <a:prstGeom prst="roundRect">
            <a:avLst>
              <a:gd name="adj" fmla="val 11538"/>
            </a:avLst>
          </a:prstGeom>
          <a:solidFill>
            <a:srgbClr val="27336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3337560" y="44988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Kasuo — Arquiteto de Soluções com IA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337560" y="49194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kasuo.wkl@gmail.com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Norte v1.3.0 · © 2026 Kasuo · Open-source (Licença MIT)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2026-07-17T19:41:13Z</dcterms:created>
  <dcterms:modified xsi:type="dcterms:W3CDTF">2026-07-17T19:41:13Z</dcterms:modified>
</cp:coreProperties>
</file>